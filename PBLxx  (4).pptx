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9144000" cy="6858000"/>
  <p:embeddedFontLst>
    <p:embeddedFont>
      <p:font typeface="Calibri" panose="020F0502020204030204"/>
      <p:regular r:id="rId19"/>
      <p:bold r:id="rId20"/>
      <p:italic r:id="rId21"/>
      <p:boldItalic r:id="rId22"/>
    </p:embeddedFont>
    <p:embeddedFont>
      <p:font typeface="Century Schoolbook" panose="02040604050505020304"/>
      <p:regular r:id="rId23"/>
      <p:bold r:id="rId24"/>
      <p:italic r:id="rId25"/>
      <p:boldItalic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Poppins" panose="0000050000000000000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CB3F4C0-F2E8-4320-A34B-0B094AA109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280" y="8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16.fntdata"/><Relationship Id="rId33" Type="http://schemas.openxmlformats.org/officeDocument/2006/relationships/font" Target="fonts/font15.fntdata"/><Relationship Id="rId32" Type="http://schemas.openxmlformats.org/officeDocument/2006/relationships/font" Target="fonts/font14.fntdata"/><Relationship Id="rId31" Type="http://schemas.openxmlformats.org/officeDocument/2006/relationships/font" Target="fonts/font13.fntdata"/><Relationship Id="rId30" Type="http://schemas.openxmlformats.org/officeDocument/2006/relationships/font" Target="fonts/font12.fntdata"/><Relationship Id="rId3" Type="http://schemas.openxmlformats.org/officeDocument/2006/relationships/slide" Target="slides/slide1.xml"/><Relationship Id="rId29" Type="http://schemas.openxmlformats.org/officeDocument/2006/relationships/font" Target="fonts/font11.fntdata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5cc8714c89_0_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54" name="Google Shape;54;g5cc8714c89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" name="Google Shape;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Google Shape;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" name="Google Shape;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2" name="Google Shape;1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5cc8714c89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5cc8714c89_2_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8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8"/>
          <p:cNvSpPr txBox="1">
            <a:spLocks noGrp="1"/>
          </p:cNvSpPr>
          <p:nvPr>
            <p:ph type="body" idx="1"/>
          </p:nvPr>
        </p:nvSpPr>
        <p:spPr>
          <a:xfrm>
            <a:off x="535940" y="1570180"/>
            <a:ext cx="8073390" cy="340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dk1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9"/>
          <p:cNvSpPr txBox="1">
            <a:spLocks noGrp="1"/>
          </p:cNvSpPr>
          <p:nvPr>
            <p:ph type="ctrTitle"/>
          </p:nvPr>
        </p:nvSpPr>
        <p:spPr>
          <a:xfrm>
            <a:off x="803554" y="214706"/>
            <a:ext cx="7536891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chemeClr val="hlink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9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0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2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/>
          <p:nvPr/>
        </p:nvSpPr>
        <p:spPr>
          <a:xfrm>
            <a:off x="0" y="5816578"/>
            <a:ext cx="1062142" cy="1041418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7;p27"/>
          <p:cNvSpPr/>
          <p:nvPr/>
        </p:nvSpPr>
        <p:spPr>
          <a:xfrm>
            <a:off x="0" y="5638800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 extrusionOk="0">
                <a:moveTo>
                  <a:pt x="0" y="152400"/>
                </a:moveTo>
                <a:lnTo>
                  <a:pt x="9144000" y="1524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00006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Google Shape;8;p27"/>
          <p:cNvSpPr/>
          <p:nvPr/>
        </p:nvSpPr>
        <p:spPr>
          <a:xfrm>
            <a:off x="0" y="5638800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 extrusionOk="0">
                <a:moveTo>
                  <a:pt x="0" y="152400"/>
                </a:moveTo>
                <a:lnTo>
                  <a:pt x="9144000" y="1524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Google Shape;9;p27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1" i="0" u="none" strike="noStrike" cap="none">
                <a:solidFill>
                  <a:schemeClr val="hlink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Google Shape;10;p27"/>
          <p:cNvSpPr txBox="1">
            <a:spLocks noGrp="1"/>
          </p:cNvSpPr>
          <p:nvPr>
            <p:ph type="body" idx="1"/>
          </p:nvPr>
        </p:nvSpPr>
        <p:spPr>
          <a:xfrm>
            <a:off x="535940" y="1570180"/>
            <a:ext cx="8073390" cy="340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1" name="Google Shape;11;p27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1" i="0" u="none" strike="noStrike" cap="none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2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/>
        </p:nvSpPr>
        <p:spPr>
          <a:xfrm>
            <a:off x="1280160" y="5943053"/>
            <a:ext cx="7496601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MITSoC,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514600" y="3840480"/>
            <a:ext cx="373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9445" marR="0" lvl="0" indent="-5187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" name="Google Shape;48;p2"/>
          <p:cNvSpPr txBox="1">
            <a:spLocks noGrp="1"/>
          </p:cNvSpPr>
          <p:nvPr>
            <p:ph type="title"/>
          </p:nvPr>
        </p:nvSpPr>
        <p:spPr>
          <a:xfrm>
            <a:off x="267300" y="1845220"/>
            <a:ext cx="8609400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dirty="0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"</a:t>
            </a:r>
            <a:r>
              <a:rPr lang="en-US" altLang="en-GB" sz="3600" dirty="0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PRO-FARMER : Modern Solutions for Modern Problems</a:t>
            </a:r>
            <a:r>
              <a:rPr lang="en-US" sz="3600" dirty="0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”</a:t>
            </a:r>
            <a:endParaRPr dirty="0">
              <a:solidFill>
                <a:srgbClr val="07376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822960" y="3164840"/>
            <a:ext cx="7496810" cy="2202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Rohit Jagtap - ADT23SOCB0864</a:t>
            </a:r>
            <a:endParaRPr lang="en-US" sz="16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Sahil Khandagale - </a:t>
            </a: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ADT23SOCB0919</a:t>
            </a:r>
            <a:endParaRPr lang="en-US" sz="16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Mithilesh Biradar - </a:t>
            </a: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ADT23SOCB0612</a:t>
            </a:r>
            <a:endParaRPr lang="en-US" sz="16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Yash Sonawane - </a:t>
            </a: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ADT23SOCB1354</a:t>
            </a:r>
            <a:endParaRPr lang="en-US" sz="16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Guided by</a:t>
            </a:r>
            <a:endParaRPr sz="16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Prof. Revati Raspayle</a:t>
            </a:r>
            <a:endParaRPr sz="16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2878691" y="555528"/>
            <a:ext cx="338488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Presentation</a:t>
            </a:r>
            <a:endParaRPr lang="en-US" sz="3200" b="1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51" name="Google Shape;51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5cc8714c89_0_4"/>
          <p:cNvSpPr txBox="1">
            <a:spLocks noGrp="1"/>
          </p:cNvSpPr>
          <p:nvPr>
            <p:ph type="title"/>
          </p:nvPr>
        </p:nvSpPr>
        <p:spPr>
          <a:xfrm>
            <a:off x="830592" y="408046"/>
            <a:ext cx="6932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Outline</a:t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57" name="Google Shape;57;g5cc8714c89_0_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58" name="Google Shape;58;g5cc8714c89_0_4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59" name="Google Shape;59;g5cc8714c89_0_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5cc8714c89_0_4"/>
          <p:cNvSpPr txBox="1"/>
          <p:nvPr/>
        </p:nvSpPr>
        <p:spPr>
          <a:xfrm>
            <a:off x="830590" y="1284140"/>
            <a:ext cx="7848600" cy="4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</a:t>
            </a:r>
            <a:endParaRPr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</a:t>
            </a:r>
            <a:endParaRPr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Concepts &amp; Methods</a:t>
            </a:r>
            <a:endParaRPr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Review </a:t>
            </a:r>
            <a:endParaRPr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Identification of gaps &amp; scope of work </a:t>
            </a:r>
            <a:endParaRPr lang="en-US"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Result </a:t>
            </a:r>
            <a:endParaRPr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</a:t>
            </a:r>
            <a:endParaRPr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89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None/>
            </a:pPr>
            <a:endParaRPr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66" name="Google Shape;66;p4"/>
          <p:cNvSpPr txBox="1"/>
          <p:nvPr/>
        </p:nvSpPr>
        <p:spPr>
          <a:xfrm>
            <a:off x="417107" y="224589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r>
              <a:rPr lang="en-US" sz="2200" b="0" i="0" u="none" strike="noStrike" cap="none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 txBox="1"/>
          <p:nvPr/>
        </p:nvSpPr>
        <p:spPr>
          <a:xfrm>
            <a:off x="489585" y="1249680"/>
            <a:ext cx="8088630" cy="326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Agriculture is the backbone of rural India.</a:t>
            </a:r>
            <a:endParaRPr lang="en-US" altLang="en-GB" sz="18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endParaRPr lang="en-US" altLang="en-GB" sz="18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Farmers face labor shortages and lack access to modern tools.</a:t>
            </a:r>
            <a:endParaRPr lang="en-US" altLang="en-GB" sz="18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endParaRPr lang="en-US" altLang="en-GB" sz="18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Our solution: a digital platform to simplify access to machines, vendors, and guidance.</a:t>
            </a:r>
            <a:endParaRPr lang="en-US" altLang="en-GB" sz="18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endParaRPr lang="en-US" altLang="en-GB" sz="18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Goal: Empower farmers with technology that’s accessible, affordable, and practical.</a:t>
            </a:r>
            <a:endParaRPr lang="en-US" altLang="en-GB" sz="18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endParaRPr lang="en-US" altLang="en-GB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76" name="Google Shape;76;p6"/>
          <p:cNvSpPr txBox="1"/>
          <p:nvPr/>
        </p:nvSpPr>
        <p:spPr>
          <a:xfrm>
            <a:off x="528744" y="325664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Statement:</a:t>
            </a:r>
            <a:r>
              <a:rPr lang="en-US" sz="2200" b="0" i="0" u="none" strike="noStrike" cap="none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1379346" y="6104088"/>
            <a:ext cx="73788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78" name="Google Shape;78;p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 txBox="1"/>
          <p:nvPr/>
        </p:nvSpPr>
        <p:spPr>
          <a:xfrm>
            <a:off x="143510" y="948690"/>
            <a:ext cx="8434705" cy="1566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Farmers struggle with manual labor due to workforce scarcity.</a:t>
            </a:r>
            <a:endParaRPr lang="en-US" altLang="en-GB" sz="1800" dirty="0"/>
          </a:p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Limited awareness of farming machines and how to use them.</a:t>
            </a:r>
            <a:endParaRPr lang="en-US" altLang="en-GB" sz="1800" dirty="0"/>
          </a:p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Difficulty finding reliable vendors or government schemes.</a:t>
            </a:r>
            <a:endParaRPr lang="en-US" altLang="en-GB" sz="1800" dirty="0"/>
          </a:p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Confusion and frustration hinder adoption of modern tools.</a:t>
            </a:r>
            <a:endParaRPr lang="en-US" altLang="en-GB" sz="1800" dirty="0"/>
          </a:p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endParaRPr lang="en-US" altLang="en-GB" sz="1800" dirty="0"/>
          </a:p>
        </p:txBody>
      </p:sp>
      <p:sp>
        <p:nvSpPr>
          <p:cNvPr id="80" name="Google Shape;80;p6"/>
          <p:cNvSpPr txBox="1"/>
          <p:nvPr/>
        </p:nvSpPr>
        <p:spPr>
          <a:xfrm>
            <a:off x="529590" y="3512185"/>
            <a:ext cx="8048625" cy="184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Build a mobile-friendly website/app for farmers.</a:t>
            </a:r>
            <a:endParaRPr lang="en-US" altLang="en-GB" sz="18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Provide machine details, vendor locations, and usage guides.</a:t>
            </a:r>
            <a:endParaRPr lang="en-US" altLang="en-GB" sz="18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Share updates on government subsidies and schemes.</a:t>
            </a:r>
            <a:endParaRPr lang="en-US" altLang="en-GB" sz="18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Enable vendor registration for scalability and growth.</a:t>
            </a:r>
            <a:endParaRPr lang="en-US" altLang="en-GB" sz="18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endParaRPr lang="en-US" altLang="en-GB" sz="1800" dirty="0"/>
          </a:p>
        </p:txBody>
      </p:sp>
      <p:sp>
        <p:nvSpPr>
          <p:cNvPr id="81" name="Google Shape;81;p6"/>
          <p:cNvSpPr txBox="1"/>
          <p:nvPr/>
        </p:nvSpPr>
        <p:spPr>
          <a:xfrm>
            <a:off x="528179" y="2724642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Objectives:</a:t>
            </a:r>
            <a:r>
              <a:rPr lang="en-US" sz="2200" b="0" i="0" u="none" strike="noStrike" cap="none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142365"/>
            <a:ext cx="8150225" cy="4029075"/>
          </a:xfrm>
        </p:spPr>
        <p:txBody>
          <a:bodyPr>
            <a:noAutofit/>
          </a:bodyPr>
          <a:lstStyle/>
          <a:p>
            <a:pPr marL="571500" indent="-342900"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Fontend: HTML, CSS, JavaScript for responsive design.</a:t>
            </a:r>
            <a:endParaRPr lang="en-US" altLang="en-GB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71500" indent="-342900"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Backend: PHP or Node.js for server-side logic.</a:t>
            </a:r>
            <a:endParaRPr lang="en-US" altLang="en-GB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71500" indent="-342900"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Database: MySQL or Firebase to store machine/vendor data.</a:t>
            </a:r>
            <a:endParaRPr lang="en-US" altLang="en-GB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71500" indent="-342900"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Google Maps API: Locate nearby sellers and service centers.</a:t>
            </a:r>
            <a:endParaRPr lang="en-US" altLang="en-GB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71500" indent="-342900"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Multimedia Support: Training videos, manuals, and FAQs.</a:t>
            </a:r>
            <a:endParaRPr lang="en-US" altLang="en-GB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71500" indent="-342900">
              <a:buFont typeface="Wingdings" panose="05000000000000000000" charset="0"/>
              <a:buChar char="q"/>
            </a:pPr>
            <a:endParaRPr lang="en-US" altLang="en-GB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6" name="Google Shape;86;p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87" name="Google Shape;87;p8"/>
          <p:cNvSpPr txBox="1"/>
          <p:nvPr/>
        </p:nvSpPr>
        <p:spPr>
          <a:xfrm>
            <a:off x="415824" y="346699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Concepts and Methods:</a:t>
            </a:r>
            <a:r>
              <a:rPr lang="en-US" sz="2800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2800" b="0" i="0" u="none" strike="noStrike" cap="none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8" name="Google Shape;88;p8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89" name="Google Shape;89;p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00" name="Google Shape;100;p9"/>
          <p:cNvSpPr txBox="1"/>
          <p:nvPr/>
        </p:nvSpPr>
        <p:spPr>
          <a:xfrm>
            <a:off x="417094" y="224589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</a:t>
            </a:r>
            <a:r>
              <a:rPr lang="en-US" sz="2200" b="0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2200" b="0" i="0" u="none" strike="noStrike" cap="none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1" name="Google Shape;101;p9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02" name="Google Shape;102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3" name="Google Shape;103;p9"/>
          <p:cNvGraphicFramePr/>
          <p:nvPr>
            <p:custDataLst>
              <p:tags r:id="rId2"/>
            </p:custDataLst>
          </p:nvPr>
        </p:nvGraphicFramePr>
        <p:xfrm>
          <a:off x="249555" y="869950"/>
          <a:ext cx="8645525" cy="4484370"/>
        </p:xfrm>
        <a:graphic>
          <a:graphicData uri="http://schemas.openxmlformats.org/drawingml/2006/table">
            <a:tbl>
              <a:tblPr>
                <a:noFill/>
                <a:tableStyleId>{6CB3F4C0-F2E8-4320-A34B-0B094AA10944}</a:tableStyleId>
              </a:tblPr>
              <a:tblGrid>
                <a:gridCol w="638810"/>
                <a:gridCol w="3141345"/>
                <a:gridCol w="1435100"/>
                <a:gridCol w="3430270"/>
              </a:tblGrid>
              <a:tr h="609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Sr. no</a:t>
                      </a:r>
                      <a:endParaRPr lang="en-US" sz="1400" b="1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Literature Title</a:t>
                      </a:r>
                      <a:endParaRPr lang="en-US" sz="1400" b="1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Author</a:t>
                      </a:r>
                      <a:endParaRPr lang="en-US" sz="1400" b="1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Findings</a:t>
                      </a:r>
                      <a:endParaRPr lang="en-US" sz="1400" b="1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</a:tr>
              <a:tr h="1343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1.</a:t>
                      </a:r>
                      <a:endParaRPr lang="en-US" sz="140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Real-Time Tracking of Agricultural Inputs and Farmer Engagement</a:t>
                      </a:r>
                      <a:endParaRPr lang="en-US" altLang="en-GB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GB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Mr. Sdarsanam, Nithish Kumar Balaji, Achuthan R</a:t>
                      </a:r>
                      <a:endParaRPr lang="en-US" altLang="en-GB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GB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1524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Arial" panose="020B0604020202020204" pitchFamily="34" charset="0"/>
                        <a:buNone/>
                      </a:pPr>
                      <a:r>
                        <a:rPr lang="en-US" altLang="en-GB" sz="1400" dirty="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Demonstrates how real-time tracking systems can monitor farmer tool usage, vendor interaction, and adoption of modern techniques.</a:t>
                      </a:r>
                      <a:endParaRPr lang="en-US" altLang="en-GB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  <a:p>
                      <a:pPr marL="1524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Arial" panose="020B0604020202020204" pitchFamily="34" charset="0"/>
                        <a:buNone/>
                      </a:pPr>
                      <a:endParaRPr lang="en-US" altLang="en-GB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</a:tr>
              <a:tr h="146304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2.</a:t>
                      </a:r>
                      <a:endParaRPr lang="en-US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Enhancing Rural Agriculture: Real-Time Monitoring of Farming Practices and Tool Access</a:t>
                      </a:r>
                      <a:endParaRPr lang="en-US" altLang="en-GB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GB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Vedant Khope, Mayur S. Bannawade, Vedant S. Thawali</a:t>
                      </a:r>
                      <a:endParaRPr lang="en-US" altLang="en-GB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GB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1524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 panose="020F0502020204030204"/>
                        <a:buNone/>
                      </a:pPr>
                      <a:r>
                        <a:rPr lang="en-US" altLang="en-GB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Highlights the benefits of digital platforms for farmers from diverse regions, enabling better access to tools and guidance.</a:t>
                      </a:r>
                      <a:endParaRPr lang="en-US" altLang="en-GB" sz="14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  <a:p>
                      <a:pPr marL="1524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 panose="020F0502020204030204"/>
                        <a:buNone/>
                      </a:pPr>
                      <a:endParaRPr lang="en-US" altLang="en-GB" sz="14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</a:tr>
              <a:tr h="106870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3.</a:t>
                      </a:r>
                      <a:endParaRPr lang="en-US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Agricultural Analytics for Monitoring Farmer Progress and Resource Utilization</a:t>
                      </a:r>
                      <a:endParaRPr lang="en-US" altLang="en-GB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Aimad Qazdar, Sara Qassimi</a:t>
                      </a:r>
                      <a:endParaRPr lang="en-US" altLang="en-GB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GB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1524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 panose="020F0502020204030204"/>
                        <a:buNone/>
                      </a:pPr>
                      <a:r>
                        <a:rPr lang="en-US" altLang="en-GB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Shows how dashboards and analytics can help track farming activity, vendor engagement, and government scheme participation.</a:t>
                      </a:r>
                      <a:endParaRPr lang="en-US" altLang="en-GB" sz="14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09" name="Google Shape;109;p7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10" name="Google Shape;110;p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7"/>
          <p:cNvSpPr txBox="1"/>
          <p:nvPr/>
        </p:nvSpPr>
        <p:spPr>
          <a:xfrm>
            <a:off x="359623" y="1014144"/>
            <a:ext cx="8638200" cy="395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BF9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Identification of Gaps</a:t>
            </a:r>
            <a:endParaRPr lang="en-US" sz="2000" b="1" dirty="0">
              <a:solidFill>
                <a:srgbClr val="BF9000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GB" sz="2000" b="1" dirty="0">
              <a:solidFill>
                <a:srgbClr val="BF9000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No unified platform combining machine info, vendor access, and training.</a:t>
            </a:r>
            <a:endParaRPr lang="en-US" altLang="en-GB" sz="1800" dirty="0"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Lack of regional language support and mobile optimization.</a:t>
            </a:r>
            <a:endParaRPr lang="en-US" altLang="en-GB" sz="1800" dirty="0"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GB" sz="1200" dirty="0"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GB" sz="1200" dirty="0"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GB" sz="1200" dirty="0"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BF9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Scope of Work</a:t>
            </a:r>
            <a:endParaRPr lang="en-US" sz="2000" b="1" dirty="0">
              <a:solidFill>
                <a:srgbClr val="BF9000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GB" sz="1800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Scope to integrate maps, multimedia, and vendor onboarding.</a:t>
            </a:r>
            <a:endParaRPr lang="en-US" altLang="en-GB" sz="1800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Opportunity to scale with government partnerships and farmer feedback.</a:t>
            </a:r>
            <a:endParaRPr lang="en-US" altLang="en-GB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50000"/>
              <a:buFont typeface="Arial" panose="020B0604020202020204" pitchFamily="34" charset="0"/>
              <a:buChar char="•"/>
            </a:pPr>
            <a:endParaRPr lang="en-US" altLang="en-GB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417094" y="224589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Identification of gaps &amp; scope of work </a:t>
            </a:r>
            <a:endParaRPr lang="en-US" sz="2800" b="1" dirty="0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26" name="Google Shape;126;p13"/>
          <p:cNvSpPr txBox="1"/>
          <p:nvPr/>
        </p:nvSpPr>
        <p:spPr>
          <a:xfrm>
            <a:off x="417094" y="224589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Results</a:t>
            </a:r>
            <a:r>
              <a:rPr lang="en-US" sz="2200" b="0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2200" b="0" i="0" u="none" strike="noStrike" cap="none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208200" y="918565"/>
            <a:ext cx="8727600" cy="453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Wingdings" panose="05000000000000000000" charset="0"/>
              <a:buChar char="Ø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Poppins" panose="00000500000000000000"/>
              </a:rPr>
              <a:t>Designed a mobile-friendly platform prototype for farmers</a:t>
            </a:r>
            <a:endParaRPr lang="en-US" altLang="en-GB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Wingdings" panose="05000000000000000000" charset="0"/>
              <a:buChar char="Ø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Poppins" panose="00000500000000000000"/>
              </a:rPr>
              <a:t>Displayed machine details, prices, and vendor contacts in a simple catalog.</a:t>
            </a:r>
            <a:endParaRPr lang="en-US" altLang="en-GB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Wingdings" panose="05000000000000000000" charset="0"/>
              <a:buChar char="Ø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Poppins" panose="00000500000000000000"/>
              </a:rPr>
              <a:t>Integrated Google Maps to locate nearby sellers and rental services.</a:t>
            </a:r>
            <a:endParaRPr lang="en-US" altLang="en-GB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Wingdings" panose="05000000000000000000" charset="0"/>
              <a:buChar char="Ø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Poppins" panose="00000500000000000000"/>
              </a:rPr>
              <a:t>Uploaded sample training videos and manuals for machine usage.</a:t>
            </a:r>
            <a:endParaRPr lang="en-US" altLang="en-GB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Wingdings" panose="05000000000000000000" charset="0"/>
              <a:buChar char="Ø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Poppins" panose="00000500000000000000"/>
              </a:rPr>
              <a:t>Created separate access for farmers and vendors.</a:t>
            </a:r>
            <a:endParaRPr lang="en-US" altLang="en-GB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Wingdings" panose="05000000000000000000" charset="0"/>
              <a:buChar char="Ø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Poppins" panose="00000500000000000000"/>
              </a:rPr>
              <a:t>Shared mock updates on government schemes and subsidies.</a:t>
            </a:r>
            <a:endParaRPr lang="en-US" altLang="en-GB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Wingdings" panose="05000000000000000000" charset="0"/>
              <a:buChar char="Ø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Poppins" panose="00000500000000000000"/>
              </a:rPr>
              <a:t>Verified feasibility using basic web technologies and low-cost hosting.</a:t>
            </a:r>
            <a:endParaRPr lang="en-US" altLang="en-GB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Wingdings" panose="05000000000000000000" charset="0"/>
              <a:buChar char="Ø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Poppins" panose="00000500000000000000"/>
              </a:rPr>
              <a:t>Positive feedback from initial user testing for clarity and usefulness.</a:t>
            </a:r>
            <a:endParaRPr lang="en-US" altLang="en-GB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Poppins" panose="0000050000000000000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Wingdings" panose="05000000000000000000" charset="0"/>
              <a:buChar char="Ø"/>
            </a:pPr>
            <a:endParaRPr lang="en-US" altLang="en-GB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Poppins" panose="00000500000000000000"/>
            </a:endParaRPr>
          </a:p>
        </p:txBody>
      </p:sp>
      <p:pic>
        <p:nvPicPr>
          <p:cNvPr id="129" name="Google Shape;129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35" name="Google Shape;135;p14"/>
          <p:cNvSpPr txBox="1"/>
          <p:nvPr/>
        </p:nvSpPr>
        <p:spPr>
          <a:xfrm>
            <a:off x="417094" y="224589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 and Future Work</a:t>
            </a:r>
            <a:r>
              <a:rPr lang="en-US" sz="2200" b="0" i="0" u="none" strike="noStrike" cap="none" dirty="0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2200" b="0" i="0" u="none" strike="noStrike" cap="none" dirty="0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37" name="Google Shape;137;p1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/>
          <p:nvPr/>
        </p:nvSpPr>
        <p:spPr>
          <a:xfrm>
            <a:off x="417195" y="802640"/>
            <a:ext cx="7872095" cy="4710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Conclusion</a:t>
            </a:r>
            <a:endParaRPr lang="en-US" altLang="en-GB" sz="1800" b="1" dirty="0">
              <a:latin typeface="Arial" panose="020B0604020202020204" pitchFamily="34" charset="0"/>
              <a:ea typeface="Poppins" panose="00000500000000000000"/>
              <a:cs typeface="Arial" panose="020B0604020202020204" pitchFamily="34" charset="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Developed a farmer-friendly platform to address labor shortages and lack of machine awareness.</a:t>
            </a:r>
            <a:endParaRPr lang="en-US" altLang="en-GB" sz="1800" dirty="0">
              <a:latin typeface="Arial" panose="020B0604020202020204" pitchFamily="34" charset="0"/>
              <a:ea typeface="Poppins" panose="00000500000000000000"/>
              <a:cs typeface="Arial" panose="020B0604020202020204" pitchFamily="34" charset="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Provided centralized access to machine details, vendor locations, and government schemes.</a:t>
            </a:r>
            <a:endParaRPr lang="en-US" altLang="en-GB" sz="1800" dirty="0">
              <a:latin typeface="Arial" panose="020B0604020202020204" pitchFamily="34" charset="0"/>
              <a:ea typeface="Poppins" panose="00000500000000000000"/>
              <a:cs typeface="Arial" panose="020B0604020202020204" pitchFamily="34" charset="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Enabled farmers to explore modern tools through videos, manuals, and FAQs.</a:t>
            </a:r>
            <a:endParaRPr lang="en-US" altLang="en-GB" sz="1800" dirty="0">
              <a:latin typeface="Arial" panose="020B0604020202020204" pitchFamily="34" charset="0"/>
              <a:ea typeface="Poppins" panose="00000500000000000000"/>
              <a:cs typeface="Arial" panose="020B0604020202020204" pitchFamily="34" charset="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Improved accessibility and trust by offering a simple, mobile-friendly interface.</a:t>
            </a:r>
            <a:endParaRPr lang="en-US" altLang="en-GB" sz="1800" dirty="0">
              <a:latin typeface="Arial" panose="020B0604020202020204" pitchFamily="34" charset="0"/>
              <a:ea typeface="Poppins" panose="00000500000000000000"/>
              <a:cs typeface="Arial" panose="020B0604020202020204" pitchFamily="34" charset="0"/>
              <a:sym typeface="Poppins" panose="000005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GB" sz="1800" b="1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Future Work</a:t>
            </a:r>
            <a:endParaRPr lang="en-US" altLang="en-GB" sz="1800" b="1" dirty="0">
              <a:latin typeface="Arial" panose="020B0604020202020204" pitchFamily="34" charset="0"/>
              <a:ea typeface="Poppins" panose="00000500000000000000"/>
              <a:cs typeface="Arial" panose="020B0604020202020204" pitchFamily="34" charset="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Add regional language support for better reach in rural areas.</a:t>
            </a:r>
            <a:endParaRPr lang="en-US" altLang="en-GB" sz="1800" dirty="0">
              <a:latin typeface="Arial" panose="020B0604020202020204" pitchFamily="34" charset="0"/>
              <a:ea typeface="Poppins" panose="00000500000000000000"/>
              <a:cs typeface="Arial" panose="020B0604020202020204" pitchFamily="34" charset="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Integrate chatbot or voice assistant for non-literate users.</a:t>
            </a:r>
            <a:endParaRPr lang="en-US" altLang="en-GB" sz="1800" dirty="0">
              <a:latin typeface="Arial" panose="020B0604020202020204" pitchFamily="34" charset="0"/>
              <a:ea typeface="Poppins" panose="00000500000000000000"/>
              <a:cs typeface="Arial" panose="020B0604020202020204" pitchFamily="34" charset="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Enable direct vendor-farmer communication through the app.</a:t>
            </a:r>
            <a:endParaRPr lang="en-US" altLang="en-GB" sz="1800" dirty="0">
              <a:latin typeface="Arial" panose="020B0604020202020204" pitchFamily="34" charset="0"/>
              <a:ea typeface="Poppins" panose="00000500000000000000"/>
              <a:cs typeface="Arial" panose="020B0604020202020204" pitchFamily="34" charset="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Include crop-specific machine recommendations and seasonal tips.</a:t>
            </a:r>
            <a:endParaRPr lang="en-US" altLang="en-GB" sz="1800" dirty="0">
              <a:latin typeface="Arial" panose="020B0604020202020204" pitchFamily="34" charset="0"/>
              <a:ea typeface="Poppins" panose="00000500000000000000"/>
              <a:cs typeface="Arial" panose="020B0604020202020204" pitchFamily="34" charset="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Partner with local governments and NGOs for wider adoption and subsidy integration.</a:t>
            </a:r>
            <a:endParaRPr lang="en-US" altLang="en-GB" sz="1800" dirty="0">
              <a:latin typeface="Arial" panose="020B0604020202020204" pitchFamily="34" charset="0"/>
              <a:ea typeface="Poppins" panose="00000500000000000000"/>
              <a:cs typeface="Arial" panose="020B0604020202020204" pitchFamily="34" charset="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GB" sz="1800" dirty="0">
              <a:latin typeface="Arial" panose="020B0604020202020204" pitchFamily="34" charset="0"/>
              <a:ea typeface="Poppins" panose="00000500000000000000"/>
              <a:cs typeface="Arial" panose="020B0604020202020204" pitchFamily="34" charset="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5cc8714c89_2_35"/>
          <p:cNvSpPr txBox="1">
            <a:spLocks noGrp="1"/>
          </p:cNvSpPr>
          <p:nvPr>
            <p:ph type="body" idx="1"/>
          </p:nvPr>
        </p:nvSpPr>
        <p:spPr>
          <a:xfrm>
            <a:off x="219710" y="661670"/>
            <a:ext cx="8661400" cy="4907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064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charset="0"/>
              <a:buChar char="q"/>
            </a:pPr>
            <a:r>
              <a:rPr lang="en-US" altLang="en-GB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Government of India – Reports on Agricultural Mechanization and Rural Development Ministry of Agriculture &amp; Farmers Welfare.</a:t>
            </a:r>
            <a:endParaRPr lang="en-US" altLang="en-GB" sz="1800" dirty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4064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charset="0"/>
              <a:buChar char="q"/>
            </a:pPr>
            <a:r>
              <a:rPr lang="en-US" altLang="en-GB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FAO (Food and Agriculture Organization) – Studies on Farm Labor Shortages and Mechanization</a:t>
            </a:r>
            <a:endParaRPr lang="en-US" altLang="en-GB" sz="1800" dirty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4064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charset="0"/>
              <a:buChar char="q"/>
            </a:pPr>
            <a:r>
              <a:rPr lang="en-US" altLang="en-GB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IEEE Xplore – Research on Mobile Platforms for Rural Development and Farmer Empowerment</a:t>
            </a:r>
            <a:endParaRPr lang="en-US" altLang="en-GB" sz="1800" dirty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4064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charset="0"/>
              <a:buChar char="q"/>
            </a:pPr>
            <a:r>
              <a:rPr lang="en-US" altLang="en-GB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Google Maps API Documentation – Location-based Services for Vendor Discovery</a:t>
            </a:r>
            <a:endParaRPr lang="en-US" altLang="en-GB" sz="1800" dirty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4064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charset="0"/>
              <a:buChar char="q"/>
            </a:pPr>
            <a:r>
              <a:rPr lang="en-US" altLang="en-GB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Firebase &amp; MySQL Documentation – Database Integration for Scalable Web Applications</a:t>
            </a:r>
            <a:endParaRPr lang="en-US" altLang="en-GB" sz="1800" dirty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4064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charset="0"/>
              <a:buChar char="q"/>
            </a:pPr>
            <a:r>
              <a:rPr lang="en-US" altLang="en-GB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W3Schools &amp; MDN Web Docs – Resources for HTML, CSS, JavaScript, PHP, and Node.js Development</a:t>
            </a:r>
            <a:endParaRPr lang="en-US" altLang="en-GB" sz="1800" dirty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</p:txBody>
      </p:sp>
      <p:sp>
        <p:nvSpPr>
          <p:cNvPr id="144" name="Google Shape;144;g5cc8714c89_2_35"/>
          <p:cNvSpPr txBox="1"/>
          <p:nvPr/>
        </p:nvSpPr>
        <p:spPr>
          <a:xfrm>
            <a:off x="375529" y="-1"/>
            <a:ext cx="2874298" cy="72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r>
              <a:rPr lang="en-US" sz="4000" b="1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  <a:endParaRPr lang="en-US" sz="4000" b="1" i="0" u="none" strike="noStrike" cap="none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5" name="Google Shape;145;g5cc8714c89_2_3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46" name="Google Shape;146;g5cc8714c89_2_35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7" name="Google Shape;147;g5cc8714c89_2_3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53" name="Google Shape;153;p16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1792145" y="2374230"/>
            <a:ext cx="533055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</a:t>
            </a:r>
            <a:endParaRPr lang="en-US" sz="4000" b="1" i="0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55" name="Google Shape;155;p1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61" name="Google Shape;161;p17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1792145" y="2374230"/>
            <a:ext cx="533055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Questions</a:t>
            </a:r>
            <a:endParaRPr lang="en-US" sz="4000" b="1" i="0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63" name="Google Shape;163;p1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80*343"/>
  <p:tag name="TABLE_ENDDRAG_RECT" val="19*78*680*343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5151</Words>
  <Application>WPS Presentation</Application>
  <PresentationFormat>On-screen Show (4:3)</PresentationFormat>
  <Paragraphs>203</Paragraphs>
  <Slides>12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Arial</vt:lpstr>
      <vt:lpstr>Calibri</vt:lpstr>
      <vt:lpstr>Century Schoolbook</vt:lpstr>
      <vt:lpstr>Times New Roman</vt:lpstr>
      <vt:lpstr>Wingdings</vt:lpstr>
      <vt:lpstr>Calibri</vt:lpstr>
      <vt:lpstr>Poppins</vt:lpstr>
      <vt:lpstr>Microsoft YaHei</vt:lpstr>
      <vt:lpstr>Arial Unicode MS</vt:lpstr>
      <vt:lpstr>Office Theme</vt:lpstr>
      <vt:lpstr>" PRO-FARMER : Modern Solutions for Modern Problems”</vt:lpstr>
      <vt:lpstr>Outline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"Real time tracking of students learning’s outcomes and their academic progress across schools.”</dc:title>
  <dc:creator>Hp</dc:creator>
  <cp:lastModifiedBy>Sahil Khandagale</cp:lastModifiedBy>
  <cp:revision>6</cp:revision>
  <dcterms:created xsi:type="dcterms:W3CDTF">2018-12-06T11:05:00Z</dcterms:created>
  <dcterms:modified xsi:type="dcterms:W3CDTF">2025-10-09T15:55:34Z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2017-02-01T11:00:00Z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2018-12-06T11:00:00Z</vt:filetime>
  </property>
  <property fmtid="{D5CDD505-2E9C-101B-9397-08002B2CF9AE}" pid="5" name="ICV">
    <vt:lpwstr>33540DEBC2C84E488E805D61D4B4B675_12</vt:lpwstr>
  </property>
  <property fmtid="{D5CDD505-2E9C-101B-9397-08002B2CF9AE}" pid="6" name="KSOProductBuildVer">
    <vt:lpwstr>2057-12.2.0.22556</vt:lpwstr>
  </property>
</Properties>
</file>