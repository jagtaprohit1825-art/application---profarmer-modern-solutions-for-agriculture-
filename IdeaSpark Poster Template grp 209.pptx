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01" y="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3568" y="81280"/>
            <a:ext cx="2920873" cy="135420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74543" y="829056"/>
            <a:ext cx="9030970" cy="1293495"/>
          </a:xfrm>
          <a:custGeom>
            <a:avLst/>
            <a:gdLst/>
            <a:ahLst/>
            <a:cxnLst/>
            <a:rect l="l" t="t" r="r" b="b"/>
            <a:pathLst>
              <a:path w="9030970" h="1293495">
                <a:moveTo>
                  <a:pt x="9030843" y="0"/>
                </a:moveTo>
                <a:lnTo>
                  <a:pt x="0" y="0"/>
                </a:lnTo>
                <a:lnTo>
                  <a:pt x="0" y="1293240"/>
                </a:lnTo>
                <a:lnTo>
                  <a:pt x="9030843" y="1293240"/>
                </a:lnTo>
                <a:lnTo>
                  <a:pt x="9030843" y="0"/>
                </a:lnTo>
                <a:close/>
              </a:path>
            </a:pathLst>
          </a:custGeom>
          <a:solidFill>
            <a:srgbClr val="2E53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4542" y="196672"/>
            <a:ext cx="742060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46626" y="859282"/>
            <a:ext cx="6777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95" dirty="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r>
              <a:rPr sz="18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8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sz="18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FFFFFF"/>
                </a:solidFill>
                <a:latin typeface="Cambria"/>
                <a:cs typeface="Cambria"/>
              </a:rPr>
              <a:t>SCIENCE</a:t>
            </a:r>
            <a:r>
              <a:rPr sz="18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sz="18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Cambria"/>
                <a:cs typeface="Cambria"/>
              </a:rPr>
              <a:t>ENGINEERING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4503" y="1042828"/>
            <a:ext cx="6777355" cy="1063753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lang="en-IN" sz="2800" i="1" spc="-25" dirty="0">
                <a:solidFill>
                  <a:srgbClr val="FFFFFF"/>
                </a:solidFill>
                <a:latin typeface="Calibri"/>
                <a:cs typeface="Calibri"/>
              </a:rPr>
              <a:t>PRO-</a:t>
            </a:r>
            <a:r>
              <a:rPr lang="en-IN" sz="2800" i="1" spc="-10" dirty="0">
                <a:solidFill>
                  <a:srgbClr val="FFFFFF"/>
                </a:solidFill>
                <a:latin typeface="Calibri"/>
                <a:cs typeface="Calibri"/>
              </a:rPr>
              <a:t>FARMER</a:t>
            </a:r>
            <a:endParaRPr lang="en-IN" sz="2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lang="en-IN" dirty="0">
                <a:solidFill>
                  <a:schemeClr val="bg2"/>
                </a:solidFill>
              </a:rPr>
              <a:t>Modern Solution for Agriculture</a:t>
            </a: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ROHIT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JAGTAP,YASH</a:t>
            </a:r>
            <a:r>
              <a:rPr sz="18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SONWANE,SAHIL</a:t>
            </a:r>
            <a:r>
              <a:rPr sz="18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KHANDAGLE,MITHILESH BIRADAR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83" y="1384490"/>
            <a:ext cx="2990817" cy="731520"/>
          </a:xfrm>
          <a:custGeom>
            <a:avLst/>
            <a:gdLst/>
            <a:ahLst/>
            <a:cxnLst/>
            <a:rect l="l" t="t" r="r" b="b"/>
            <a:pathLst>
              <a:path w="2869565" h="731519">
                <a:moveTo>
                  <a:pt x="2869438" y="0"/>
                </a:moveTo>
                <a:lnTo>
                  <a:pt x="0" y="0"/>
                </a:lnTo>
                <a:lnTo>
                  <a:pt x="0" y="730923"/>
                </a:lnTo>
                <a:lnTo>
                  <a:pt x="2869438" y="730923"/>
                </a:lnTo>
                <a:lnTo>
                  <a:pt x="2869438" y="0"/>
                </a:lnTo>
                <a:close/>
              </a:path>
            </a:pathLst>
          </a:custGeom>
          <a:solidFill>
            <a:srgbClr val="FDE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2359" y="1377708"/>
            <a:ext cx="1873250" cy="69532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600" b="1" dirty="0">
                <a:latin typeface="Calibri"/>
                <a:cs typeface="Calibri"/>
              </a:rPr>
              <a:t>Faculty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Guide: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700" b="1" dirty="0">
                <a:latin typeface="Calibri"/>
                <a:cs typeface="Calibri"/>
              </a:rPr>
              <a:t>Prof.Revati</a:t>
            </a:r>
            <a:r>
              <a:rPr sz="1700" b="1" spc="-60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Raspayle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84295" y="94922"/>
            <a:ext cx="7420609" cy="686243"/>
          </a:xfrm>
          <a:custGeom>
            <a:avLst/>
            <a:gdLst/>
            <a:ahLst/>
            <a:cxnLst/>
            <a:rect l="l" t="t" r="r" b="b"/>
            <a:pathLst>
              <a:path w="7420609" h="584835">
                <a:moveTo>
                  <a:pt x="7420609" y="0"/>
                </a:moveTo>
                <a:lnTo>
                  <a:pt x="0" y="0"/>
                </a:lnTo>
                <a:lnTo>
                  <a:pt x="0" y="584771"/>
                </a:lnTo>
                <a:lnTo>
                  <a:pt x="7420609" y="584771"/>
                </a:lnTo>
                <a:lnTo>
                  <a:pt x="7420609" y="0"/>
                </a:lnTo>
                <a:close/>
              </a:path>
            </a:pathLst>
          </a:custGeom>
          <a:solidFill>
            <a:srgbClr val="B3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5"/>
              </a:spcBef>
            </a:pPr>
            <a:r>
              <a:rPr spc="295" dirty="0"/>
              <a:t>MIT</a:t>
            </a:r>
            <a:r>
              <a:rPr spc="170" dirty="0"/>
              <a:t> </a:t>
            </a:r>
            <a:r>
              <a:rPr spc="434" dirty="0"/>
              <a:t>SCHOOL</a:t>
            </a:r>
            <a:r>
              <a:rPr spc="170" dirty="0"/>
              <a:t> </a:t>
            </a:r>
            <a:r>
              <a:rPr spc="395" dirty="0"/>
              <a:t>OF</a:t>
            </a:r>
            <a:r>
              <a:rPr spc="190" dirty="0"/>
              <a:t> </a:t>
            </a:r>
            <a:r>
              <a:rPr spc="395" dirty="0"/>
              <a:t>COMPUTING</a:t>
            </a:r>
          </a:p>
        </p:txBody>
      </p:sp>
      <p:sp>
        <p:nvSpPr>
          <p:cNvPr id="8" name="object 8"/>
          <p:cNvSpPr/>
          <p:nvPr/>
        </p:nvSpPr>
        <p:spPr>
          <a:xfrm>
            <a:off x="10538567" y="86659"/>
            <a:ext cx="1556385" cy="679196"/>
          </a:xfrm>
          <a:custGeom>
            <a:avLst/>
            <a:gdLst/>
            <a:ahLst/>
            <a:cxnLst/>
            <a:rect l="l" t="t" r="r" b="b"/>
            <a:pathLst>
              <a:path w="1556384" h="831215">
                <a:moveTo>
                  <a:pt x="1556384" y="0"/>
                </a:moveTo>
                <a:lnTo>
                  <a:pt x="0" y="0"/>
                </a:lnTo>
                <a:lnTo>
                  <a:pt x="0" y="830960"/>
                </a:lnTo>
                <a:lnTo>
                  <a:pt x="1556384" y="830960"/>
                </a:lnTo>
                <a:lnTo>
                  <a:pt x="1556384" y="0"/>
                </a:lnTo>
                <a:close/>
              </a:path>
            </a:pathLst>
          </a:custGeom>
          <a:solidFill>
            <a:srgbClr val="FDE49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0673054" y="130472"/>
            <a:ext cx="95504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Class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50" dirty="0"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b="1" spc="-10" dirty="0">
                <a:latin typeface="Calibri"/>
                <a:cs typeface="Calibri"/>
              </a:rPr>
              <a:t>TY-CORE02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63301" y="571438"/>
            <a:ext cx="117538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Calibri"/>
                <a:cs typeface="Calibri"/>
              </a:rPr>
              <a:t>Group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Id:</a:t>
            </a:r>
            <a:r>
              <a:rPr sz="1400" b="1" spc="-25" dirty="0">
                <a:latin typeface="Calibri"/>
                <a:cs typeface="Calibri"/>
              </a:rPr>
              <a:t> 209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955" y="2144267"/>
            <a:ext cx="6803926" cy="4645025"/>
            <a:chOff x="28955" y="2144267"/>
            <a:chExt cx="6801644" cy="4645025"/>
          </a:xfrm>
        </p:grpSpPr>
        <p:sp>
          <p:nvSpPr>
            <p:cNvPr id="12" name="object 12"/>
            <p:cNvSpPr/>
            <p:nvPr/>
          </p:nvSpPr>
          <p:spPr>
            <a:xfrm>
              <a:off x="71024" y="2166492"/>
              <a:ext cx="6759575" cy="4622800"/>
            </a:xfrm>
            <a:custGeom>
              <a:avLst/>
              <a:gdLst/>
              <a:ahLst/>
              <a:cxnLst/>
              <a:rect l="l" t="t" r="r" b="b"/>
              <a:pathLst>
                <a:path w="6759575" h="4622800">
                  <a:moveTo>
                    <a:pt x="0" y="2952622"/>
                  </a:moveTo>
                  <a:lnTo>
                    <a:pt x="4529074" y="2952622"/>
                  </a:lnTo>
                  <a:lnTo>
                    <a:pt x="4529074" y="0"/>
                  </a:lnTo>
                  <a:lnTo>
                    <a:pt x="0" y="0"/>
                  </a:lnTo>
                  <a:lnTo>
                    <a:pt x="0" y="2952622"/>
                  </a:lnTo>
                  <a:close/>
                </a:path>
                <a:path w="6759575" h="4622800">
                  <a:moveTo>
                    <a:pt x="1" y="4622336"/>
                  </a:moveTo>
                  <a:lnTo>
                    <a:pt x="6759068" y="4622336"/>
                  </a:lnTo>
                  <a:lnTo>
                    <a:pt x="6759068" y="3029375"/>
                  </a:lnTo>
                  <a:lnTo>
                    <a:pt x="1" y="3029375"/>
                  </a:lnTo>
                  <a:lnTo>
                    <a:pt x="1" y="462233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9904" y="2144267"/>
              <a:ext cx="106616" cy="30449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35529" y="2166492"/>
              <a:ext cx="635" cy="2952750"/>
            </a:xfrm>
            <a:custGeom>
              <a:avLst/>
              <a:gdLst/>
              <a:ahLst/>
              <a:cxnLst/>
              <a:rect l="l" t="t" r="r" b="b"/>
              <a:pathLst>
                <a:path w="635" h="2952750">
                  <a:moveTo>
                    <a:pt x="0" y="0"/>
                  </a:moveTo>
                  <a:lnTo>
                    <a:pt x="126" y="295262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5" y="3607244"/>
              <a:ext cx="4622292" cy="10661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707" y="3524663"/>
              <a:ext cx="4529455" cy="0"/>
            </a:xfrm>
            <a:custGeom>
              <a:avLst/>
              <a:gdLst/>
              <a:ahLst/>
              <a:cxnLst/>
              <a:rect l="l" t="t" r="r" b="b"/>
              <a:pathLst>
                <a:path w="4529455">
                  <a:moveTo>
                    <a:pt x="0" y="0"/>
                  </a:moveTo>
                  <a:lnTo>
                    <a:pt x="452916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23749" y="3248913"/>
              <a:ext cx="894715" cy="894715"/>
            </a:xfrm>
            <a:custGeom>
              <a:avLst/>
              <a:gdLst/>
              <a:ahLst/>
              <a:cxnLst/>
              <a:rect l="l" t="t" r="r" b="b"/>
              <a:pathLst>
                <a:path w="894714" h="894714">
                  <a:moveTo>
                    <a:pt x="447167" y="0"/>
                  </a:moveTo>
                  <a:lnTo>
                    <a:pt x="398456" y="2623"/>
                  </a:lnTo>
                  <a:lnTo>
                    <a:pt x="351261" y="10311"/>
                  </a:lnTo>
                  <a:lnTo>
                    <a:pt x="305856" y="22791"/>
                  </a:lnTo>
                  <a:lnTo>
                    <a:pt x="262513" y="39792"/>
                  </a:lnTo>
                  <a:lnTo>
                    <a:pt x="221506" y="61039"/>
                  </a:lnTo>
                  <a:lnTo>
                    <a:pt x="183108" y="86262"/>
                  </a:lnTo>
                  <a:lnTo>
                    <a:pt x="147592" y="115187"/>
                  </a:lnTo>
                  <a:lnTo>
                    <a:pt x="115231" y="147541"/>
                  </a:lnTo>
                  <a:lnTo>
                    <a:pt x="86299" y="183053"/>
                  </a:lnTo>
                  <a:lnTo>
                    <a:pt x="61068" y="221450"/>
                  </a:lnTo>
                  <a:lnTo>
                    <a:pt x="39812" y="262459"/>
                  </a:lnTo>
                  <a:lnTo>
                    <a:pt x="22804" y="305807"/>
                  </a:lnTo>
                  <a:lnTo>
                    <a:pt x="10317" y="351223"/>
                  </a:lnTo>
                  <a:lnTo>
                    <a:pt x="2624" y="398434"/>
                  </a:lnTo>
                  <a:lnTo>
                    <a:pt x="0" y="447167"/>
                  </a:lnTo>
                  <a:lnTo>
                    <a:pt x="2624" y="495875"/>
                  </a:lnTo>
                  <a:lnTo>
                    <a:pt x="10317" y="543065"/>
                  </a:lnTo>
                  <a:lnTo>
                    <a:pt x="22804" y="588464"/>
                  </a:lnTo>
                  <a:lnTo>
                    <a:pt x="39812" y="631797"/>
                  </a:lnTo>
                  <a:lnTo>
                    <a:pt x="61068" y="672794"/>
                  </a:lnTo>
                  <a:lnTo>
                    <a:pt x="86299" y="711180"/>
                  </a:lnTo>
                  <a:lnTo>
                    <a:pt x="115231" y="746684"/>
                  </a:lnTo>
                  <a:lnTo>
                    <a:pt x="147592" y="779032"/>
                  </a:lnTo>
                  <a:lnTo>
                    <a:pt x="183108" y="807952"/>
                  </a:lnTo>
                  <a:lnTo>
                    <a:pt x="221506" y="833171"/>
                  </a:lnTo>
                  <a:lnTo>
                    <a:pt x="262513" y="854417"/>
                  </a:lnTo>
                  <a:lnTo>
                    <a:pt x="305856" y="871416"/>
                  </a:lnTo>
                  <a:lnTo>
                    <a:pt x="351261" y="883895"/>
                  </a:lnTo>
                  <a:lnTo>
                    <a:pt x="398456" y="891583"/>
                  </a:lnTo>
                  <a:lnTo>
                    <a:pt x="447167" y="894207"/>
                  </a:lnTo>
                  <a:lnTo>
                    <a:pt x="495899" y="891583"/>
                  </a:lnTo>
                  <a:lnTo>
                    <a:pt x="543110" y="883895"/>
                  </a:lnTo>
                  <a:lnTo>
                    <a:pt x="588526" y="871416"/>
                  </a:lnTo>
                  <a:lnTo>
                    <a:pt x="631874" y="854417"/>
                  </a:lnTo>
                  <a:lnTo>
                    <a:pt x="672883" y="833171"/>
                  </a:lnTo>
                  <a:lnTo>
                    <a:pt x="711280" y="807952"/>
                  </a:lnTo>
                  <a:lnTo>
                    <a:pt x="746792" y="779032"/>
                  </a:lnTo>
                  <a:lnTo>
                    <a:pt x="779146" y="746684"/>
                  </a:lnTo>
                  <a:lnTo>
                    <a:pt x="808071" y="711180"/>
                  </a:lnTo>
                  <a:lnTo>
                    <a:pt x="833294" y="672794"/>
                  </a:lnTo>
                  <a:lnTo>
                    <a:pt x="854541" y="631797"/>
                  </a:lnTo>
                  <a:lnTo>
                    <a:pt x="871542" y="588464"/>
                  </a:lnTo>
                  <a:lnTo>
                    <a:pt x="884022" y="543065"/>
                  </a:lnTo>
                  <a:lnTo>
                    <a:pt x="891710" y="495875"/>
                  </a:lnTo>
                  <a:lnTo>
                    <a:pt x="894333" y="447167"/>
                  </a:lnTo>
                  <a:lnTo>
                    <a:pt x="891710" y="398434"/>
                  </a:lnTo>
                  <a:lnTo>
                    <a:pt x="884022" y="351223"/>
                  </a:lnTo>
                  <a:lnTo>
                    <a:pt x="871542" y="305807"/>
                  </a:lnTo>
                  <a:lnTo>
                    <a:pt x="854541" y="262459"/>
                  </a:lnTo>
                  <a:lnTo>
                    <a:pt x="833294" y="221450"/>
                  </a:lnTo>
                  <a:lnTo>
                    <a:pt x="808071" y="183053"/>
                  </a:lnTo>
                  <a:lnTo>
                    <a:pt x="779146" y="147541"/>
                  </a:lnTo>
                  <a:lnTo>
                    <a:pt x="746792" y="115187"/>
                  </a:lnTo>
                  <a:lnTo>
                    <a:pt x="711280" y="86262"/>
                  </a:lnTo>
                  <a:lnTo>
                    <a:pt x="672883" y="61039"/>
                  </a:lnTo>
                  <a:lnTo>
                    <a:pt x="631874" y="39792"/>
                  </a:lnTo>
                  <a:lnTo>
                    <a:pt x="588526" y="22791"/>
                  </a:lnTo>
                  <a:lnTo>
                    <a:pt x="543110" y="10311"/>
                  </a:lnTo>
                  <a:lnTo>
                    <a:pt x="495899" y="2623"/>
                  </a:lnTo>
                  <a:lnTo>
                    <a:pt x="44716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1636" y="3248913"/>
              <a:ext cx="894715" cy="894715"/>
            </a:xfrm>
            <a:custGeom>
              <a:avLst/>
              <a:gdLst/>
              <a:ahLst/>
              <a:cxnLst/>
              <a:rect l="l" t="t" r="r" b="b"/>
              <a:pathLst>
                <a:path w="894714" h="894714">
                  <a:moveTo>
                    <a:pt x="0" y="447167"/>
                  </a:moveTo>
                  <a:lnTo>
                    <a:pt x="2624" y="398434"/>
                  </a:lnTo>
                  <a:lnTo>
                    <a:pt x="10317" y="351223"/>
                  </a:lnTo>
                  <a:lnTo>
                    <a:pt x="22804" y="305807"/>
                  </a:lnTo>
                  <a:lnTo>
                    <a:pt x="39812" y="262459"/>
                  </a:lnTo>
                  <a:lnTo>
                    <a:pt x="61068" y="221450"/>
                  </a:lnTo>
                  <a:lnTo>
                    <a:pt x="86299" y="183053"/>
                  </a:lnTo>
                  <a:lnTo>
                    <a:pt x="115231" y="147541"/>
                  </a:lnTo>
                  <a:lnTo>
                    <a:pt x="147592" y="115187"/>
                  </a:lnTo>
                  <a:lnTo>
                    <a:pt x="183108" y="86262"/>
                  </a:lnTo>
                  <a:lnTo>
                    <a:pt x="221506" y="61039"/>
                  </a:lnTo>
                  <a:lnTo>
                    <a:pt x="262513" y="39792"/>
                  </a:lnTo>
                  <a:lnTo>
                    <a:pt x="305856" y="22791"/>
                  </a:lnTo>
                  <a:lnTo>
                    <a:pt x="351261" y="10311"/>
                  </a:lnTo>
                  <a:lnTo>
                    <a:pt x="398456" y="2623"/>
                  </a:lnTo>
                  <a:lnTo>
                    <a:pt x="447167" y="0"/>
                  </a:lnTo>
                  <a:lnTo>
                    <a:pt x="495899" y="2623"/>
                  </a:lnTo>
                  <a:lnTo>
                    <a:pt x="543110" y="10311"/>
                  </a:lnTo>
                  <a:lnTo>
                    <a:pt x="588526" y="22791"/>
                  </a:lnTo>
                  <a:lnTo>
                    <a:pt x="631874" y="39792"/>
                  </a:lnTo>
                  <a:lnTo>
                    <a:pt x="672883" y="61039"/>
                  </a:lnTo>
                  <a:lnTo>
                    <a:pt x="711280" y="86262"/>
                  </a:lnTo>
                  <a:lnTo>
                    <a:pt x="746792" y="115187"/>
                  </a:lnTo>
                  <a:lnTo>
                    <a:pt x="779146" y="147541"/>
                  </a:lnTo>
                  <a:lnTo>
                    <a:pt x="808071" y="183053"/>
                  </a:lnTo>
                  <a:lnTo>
                    <a:pt x="833294" y="221450"/>
                  </a:lnTo>
                  <a:lnTo>
                    <a:pt x="854541" y="262459"/>
                  </a:lnTo>
                  <a:lnTo>
                    <a:pt x="871542" y="305807"/>
                  </a:lnTo>
                  <a:lnTo>
                    <a:pt x="884022" y="351223"/>
                  </a:lnTo>
                  <a:lnTo>
                    <a:pt x="891710" y="398434"/>
                  </a:lnTo>
                  <a:lnTo>
                    <a:pt x="894333" y="447167"/>
                  </a:lnTo>
                  <a:lnTo>
                    <a:pt x="891710" y="495875"/>
                  </a:lnTo>
                  <a:lnTo>
                    <a:pt x="884022" y="543065"/>
                  </a:lnTo>
                  <a:lnTo>
                    <a:pt x="871542" y="588464"/>
                  </a:lnTo>
                  <a:lnTo>
                    <a:pt x="854541" y="631797"/>
                  </a:lnTo>
                  <a:lnTo>
                    <a:pt x="833294" y="672794"/>
                  </a:lnTo>
                  <a:lnTo>
                    <a:pt x="808071" y="711180"/>
                  </a:lnTo>
                  <a:lnTo>
                    <a:pt x="779146" y="746684"/>
                  </a:lnTo>
                  <a:lnTo>
                    <a:pt x="746792" y="779032"/>
                  </a:lnTo>
                  <a:lnTo>
                    <a:pt x="711280" y="807952"/>
                  </a:lnTo>
                  <a:lnTo>
                    <a:pt x="672883" y="833171"/>
                  </a:lnTo>
                  <a:lnTo>
                    <a:pt x="631874" y="854417"/>
                  </a:lnTo>
                  <a:lnTo>
                    <a:pt x="588526" y="871416"/>
                  </a:lnTo>
                  <a:lnTo>
                    <a:pt x="543110" y="883895"/>
                  </a:lnTo>
                  <a:lnTo>
                    <a:pt x="495899" y="891583"/>
                  </a:lnTo>
                  <a:lnTo>
                    <a:pt x="447167" y="894207"/>
                  </a:lnTo>
                  <a:lnTo>
                    <a:pt x="398456" y="891583"/>
                  </a:lnTo>
                  <a:lnTo>
                    <a:pt x="351261" y="883895"/>
                  </a:lnTo>
                  <a:lnTo>
                    <a:pt x="305856" y="871416"/>
                  </a:lnTo>
                  <a:lnTo>
                    <a:pt x="262513" y="854417"/>
                  </a:lnTo>
                  <a:lnTo>
                    <a:pt x="221506" y="833171"/>
                  </a:lnTo>
                  <a:lnTo>
                    <a:pt x="183108" y="807952"/>
                  </a:lnTo>
                  <a:lnTo>
                    <a:pt x="147592" y="779032"/>
                  </a:lnTo>
                  <a:lnTo>
                    <a:pt x="115231" y="746684"/>
                  </a:lnTo>
                  <a:lnTo>
                    <a:pt x="86299" y="711180"/>
                  </a:lnTo>
                  <a:lnTo>
                    <a:pt x="61068" y="672794"/>
                  </a:lnTo>
                  <a:lnTo>
                    <a:pt x="39812" y="631797"/>
                  </a:lnTo>
                  <a:lnTo>
                    <a:pt x="22804" y="588464"/>
                  </a:lnTo>
                  <a:lnTo>
                    <a:pt x="10317" y="543065"/>
                  </a:lnTo>
                  <a:lnTo>
                    <a:pt x="2624" y="495875"/>
                  </a:lnTo>
                  <a:lnTo>
                    <a:pt x="0" y="447167"/>
                  </a:lnTo>
                  <a:close/>
                </a:path>
              </a:pathLst>
            </a:custGeom>
            <a:ln w="12700">
              <a:solidFill>
                <a:srgbClr val="1C2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44547" y="3493550"/>
            <a:ext cx="45529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Calibri"/>
                <a:cs typeface="Calibri"/>
              </a:rPr>
              <a:t>User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9758" y="2234945"/>
            <a:ext cx="1543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What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user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(farmer)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says?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758" y="2387346"/>
            <a:ext cx="20669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9525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“We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don’t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have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enough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labor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 </a:t>
            </a:r>
            <a:r>
              <a:rPr sz="900" spc="-20" dirty="0">
                <a:latin typeface="Arial MT"/>
                <a:cs typeface="Arial MT"/>
              </a:rPr>
              <a:t>work </a:t>
            </a:r>
            <a:r>
              <a:rPr sz="900" dirty="0">
                <a:latin typeface="Arial MT"/>
                <a:cs typeface="Arial MT"/>
              </a:rPr>
              <a:t>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farms.”</a:t>
            </a:r>
            <a:endParaRPr sz="900" dirty="0">
              <a:latin typeface="Arial MT"/>
              <a:cs typeface="Arial MT"/>
            </a:endParaRPr>
          </a:p>
          <a:p>
            <a:pPr marL="184785" marR="44450" indent="-17272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“We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don’t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know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much about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farming machines.”</a:t>
            </a:r>
            <a:endParaRPr sz="900" dirty="0">
              <a:latin typeface="Arial MT"/>
              <a:cs typeface="Arial MT"/>
            </a:endParaRPr>
          </a:p>
          <a:p>
            <a:pPr marL="184785" marR="5080" indent="-17272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“Even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if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we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hear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about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machines,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we </a:t>
            </a:r>
            <a:r>
              <a:rPr sz="900" dirty="0">
                <a:latin typeface="Arial MT"/>
                <a:cs typeface="Arial MT"/>
              </a:rPr>
              <a:t>don’t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know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where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 buy</a:t>
            </a:r>
            <a:r>
              <a:rPr sz="900" spc="-10" dirty="0">
                <a:latin typeface="Arial MT"/>
                <a:cs typeface="Arial MT"/>
              </a:rPr>
              <a:t> them.”</a:t>
            </a:r>
            <a:endParaRPr sz="900" dirty="0">
              <a:latin typeface="Arial MT"/>
              <a:cs typeface="Arial MT"/>
            </a:endParaRPr>
          </a:p>
          <a:p>
            <a:pPr marL="184785" marR="558165" indent="-17272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“It’s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difficult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find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reliable information.”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9148" y="3722623"/>
            <a:ext cx="1558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What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user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(farmer)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does?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9148" y="3875023"/>
            <a:ext cx="207391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Continues manual farming due to</a:t>
            </a:r>
          </a:p>
          <a:p>
            <a:r>
              <a:rPr lang="en-US" sz="900" dirty="0"/>
              <a:t>     lack of guidance.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Depends on local agents or word-of-mouth information.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Avoids modern machinery due to fear of high cost and wrong choice.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30017" y="2201925"/>
            <a:ext cx="16370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What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user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(farmer)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thinks?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30017" y="2354326"/>
            <a:ext cx="20828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 MT"/>
              </a:rPr>
              <a:t>Machines can reduce workload and save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 MT"/>
              </a:rPr>
              <a:t>Correct guidance can reduce unnecessary expenses.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 MT"/>
              </a:rPr>
              <a:t>A single digital platform would make decisions easier.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 MT"/>
              </a:rPr>
              <a:t>Government subsidies can make                               machines affordable.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440338" y="3576447"/>
            <a:ext cx="2074545" cy="14125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What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user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(farmer)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feels?</a:t>
            </a:r>
            <a:endParaRPr sz="1000" dirty="0">
              <a:latin typeface="Arial"/>
              <a:cs typeface="Arial"/>
            </a:endParaRPr>
          </a:p>
          <a:p>
            <a:pPr marL="565150" indent="-1714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900" dirty="0">
                <a:latin typeface="Arial MT"/>
                <a:cs typeface="Arial MT"/>
              </a:rPr>
              <a:t>Frustrated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because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increasing</a:t>
            </a:r>
            <a:r>
              <a:rPr lang="en-US"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labor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shortage.</a:t>
            </a:r>
            <a:endParaRPr sz="900" dirty="0">
              <a:latin typeface="Arial MT"/>
              <a:cs typeface="Arial MT"/>
            </a:endParaRPr>
          </a:p>
          <a:p>
            <a:pPr marL="184785" marR="180340" indent="-17272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Confused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due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 lack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clear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and </a:t>
            </a:r>
            <a:r>
              <a:rPr sz="900" dirty="0">
                <a:latin typeface="Arial MT"/>
                <a:cs typeface="Arial MT"/>
              </a:rPr>
              <a:t>trustworthy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machine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information.</a:t>
            </a:r>
            <a:endParaRPr sz="900" dirty="0">
              <a:latin typeface="Arial MT"/>
              <a:cs typeface="Arial MT"/>
            </a:endParaRPr>
          </a:p>
          <a:p>
            <a:pPr marL="184785" marR="154305" indent="-17272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Hopeful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that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technology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can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make </a:t>
            </a:r>
            <a:r>
              <a:rPr sz="900" dirty="0">
                <a:latin typeface="Arial MT"/>
                <a:cs typeface="Arial MT"/>
              </a:rPr>
              <a:t>farming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easier.</a:t>
            </a:r>
            <a:endParaRPr sz="900" dirty="0">
              <a:latin typeface="Arial MT"/>
              <a:cs typeface="Arial MT"/>
            </a:endParaRPr>
          </a:p>
          <a:p>
            <a:pPr marL="184785" marR="242570" indent="-17272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Relieved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when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given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guidance, </a:t>
            </a:r>
            <a:r>
              <a:rPr sz="900" dirty="0">
                <a:latin typeface="Arial MT"/>
                <a:cs typeface="Arial MT"/>
              </a:rPr>
              <a:t>support,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or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subsidies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 </a:t>
            </a:r>
            <a:r>
              <a:rPr sz="900" spc="-10" dirty="0">
                <a:latin typeface="Arial MT"/>
                <a:cs typeface="Arial MT"/>
              </a:rPr>
              <a:t>modern solutions.</a:t>
            </a:r>
            <a:endParaRPr sz="900" dirty="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185295" y="5185854"/>
            <a:ext cx="106680" cy="1684020"/>
            <a:chOff x="2967227" y="5173983"/>
            <a:chExt cx="106680" cy="168402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7227" y="5173983"/>
              <a:ext cx="106616" cy="168401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23107" y="5195950"/>
              <a:ext cx="0" cy="1593215"/>
            </a:xfrm>
            <a:custGeom>
              <a:avLst/>
              <a:gdLst/>
              <a:ahLst/>
              <a:cxnLst/>
              <a:rect l="l" t="t" r="r" b="b"/>
              <a:pathLst>
                <a:path h="1593215">
                  <a:moveTo>
                    <a:pt x="0" y="0"/>
                  </a:moveTo>
                  <a:lnTo>
                    <a:pt x="0" y="159287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725" y="5249367"/>
            <a:ext cx="3157449" cy="15645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912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PROBLEM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STATEMENT</a:t>
            </a:r>
            <a:endParaRPr sz="1200" dirty="0">
              <a:latin typeface="Arial"/>
              <a:cs typeface="Arial"/>
            </a:endParaRPr>
          </a:p>
          <a:p>
            <a:pPr marL="78105" marR="69215" algn="just">
              <a:lnSpc>
                <a:spcPct val="100000"/>
              </a:lnSpc>
              <a:spcBef>
                <a:spcPts val="55"/>
              </a:spcBef>
            </a:pPr>
            <a:r>
              <a:rPr lang="en-US" sz="1100" dirty="0"/>
              <a:t>Farmers in rural India face labor shortages, limited awareness of modern agricultural machinery, and poor access to reliable information about machine selection, pricing, vendors, and government subsidies. The absence of a unified and intelligent digital platform results in low adoption of mechanization and inefficient farming practices.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88421" y="5244160"/>
            <a:ext cx="3529446" cy="15831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489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PROPOSED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SOLUTION</a:t>
            </a:r>
            <a:endParaRPr sz="1400" dirty="0">
              <a:latin typeface="Arial"/>
              <a:cs typeface="Arial"/>
            </a:endParaRPr>
          </a:p>
          <a:p>
            <a:pPr marL="78740" marR="19050" algn="just">
              <a:lnSpc>
                <a:spcPct val="100000"/>
              </a:lnSpc>
              <a:spcBef>
                <a:spcPts val="15"/>
              </a:spcBef>
            </a:pPr>
            <a:r>
              <a:rPr lang="en-US" sz="1100" b="1" dirty="0"/>
              <a:t>Pro-Farmer</a:t>
            </a:r>
            <a:r>
              <a:rPr lang="en-US" sz="1100" dirty="0"/>
              <a:t> is an AI-powered web/mobile platform that helps farmers discover, compare, and access agricultural machinery along with real-time subsidy information. The system uses Artificial Intelligence to recommend suitable machines based on crop type, land size, budget, and location, making decision-making faster, smarter, and more affordable for farmers.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898767" y="4832816"/>
            <a:ext cx="5172710" cy="1975485"/>
          </a:xfrm>
          <a:custGeom>
            <a:avLst/>
            <a:gdLst/>
            <a:ahLst/>
            <a:cxnLst/>
            <a:rect l="l" t="t" r="r" b="b"/>
            <a:pathLst>
              <a:path w="5172709" h="1975484">
                <a:moveTo>
                  <a:pt x="0" y="1975104"/>
                </a:moveTo>
                <a:lnTo>
                  <a:pt x="5172329" y="1975104"/>
                </a:lnTo>
                <a:lnTo>
                  <a:pt x="5172329" y="0"/>
                </a:lnTo>
                <a:lnTo>
                  <a:pt x="0" y="0"/>
                </a:lnTo>
                <a:lnTo>
                  <a:pt x="0" y="19751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997700" y="4839461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Scope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97700" y="5023865"/>
            <a:ext cx="2122805" cy="18716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4826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84785" algn="l"/>
              </a:tabLst>
            </a:pPr>
            <a:r>
              <a:rPr sz="1000" dirty="0">
                <a:latin typeface="Arial MT"/>
                <a:cs typeface="Arial MT"/>
              </a:rPr>
              <a:t>Build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website/app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farmers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to </a:t>
            </a:r>
            <a:r>
              <a:rPr sz="1000" dirty="0">
                <a:latin typeface="Arial MT"/>
                <a:cs typeface="Arial MT"/>
              </a:rPr>
              <a:t>explore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machines.</a:t>
            </a:r>
            <a:endParaRPr sz="1000" dirty="0">
              <a:latin typeface="Arial MT"/>
              <a:cs typeface="Arial MT"/>
            </a:endParaRPr>
          </a:p>
          <a:p>
            <a:pPr marL="184785" marR="83820" indent="-172720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000" dirty="0">
                <a:latin typeface="Arial MT"/>
                <a:cs typeface="Arial MT"/>
              </a:rPr>
              <a:t>Show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machine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details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(use,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cost, benefits).</a:t>
            </a:r>
            <a:endParaRPr sz="10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000" dirty="0">
                <a:latin typeface="Arial MT"/>
                <a:cs typeface="Arial MT"/>
              </a:rPr>
              <a:t>Display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vendor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locations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maps.</a:t>
            </a:r>
            <a:endParaRPr sz="10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000" dirty="0">
                <a:latin typeface="Arial MT"/>
                <a:cs typeface="Arial MT"/>
              </a:rPr>
              <a:t>Provide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training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videos/manuals.</a:t>
            </a:r>
            <a:endParaRPr sz="10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1000" dirty="0">
                <a:latin typeface="Arial MT"/>
                <a:cs typeface="Arial MT"/>
              </a:rPr>
              <a:t>Share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updates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government</a:t>
            </a:r>
            <a:endParaRPr sz="1000" dirty="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sz="1000" spc="-10" dirty="0">
                <a:latin typeface="Arial MT"/>
                <a:cs typeface="Arial MT"/>
              </a:rPr>
              <a:t>schemes.</a:t>
            </a:r>
            <a:endParaRPr lang="en-US" sz="1000" spc="-10" dirty="0">
              <a:latin typeface="Arial MT"/>
              <a:cs typeface="Arial MT"/>
            </a:endParaRPr>
          </a:p>
          <a:p>
            <a:pPr marL="184785" indent="-172085">
              <a:lnSpc>
                <a:spcPts val="1190"/>
              </a:lnSpc>
              <a:spcBef>
                <a:spcPts val="95"/>
              </a:spcBef>
              <a:buChar char="•"/>
              <a:tabLst>
                <a:tab pos="184785" algn="l"/>
              </a:tabLst>
            </a:pPr>
            <a:r>
              <a:rPr lang="en-US" sz="1000" dirty="0">
                <a:latin typeface="Arial MT"/>
                <a:cs typeface="Arial MT"/>
              </a:rPr>
              <a:t>Let</a:t>
            </a:r>
            <a:r>
              <a:rPr lang="en-US" sz="1000" spc="-45" dirty="0">
                <a:latin typeface="Arial MT"/>
                <a:cs typeface="Arial MT"/>
              </a:rPr>
              <a:t> </a:t>
            </a:r>
            <a:r>
              <a:rPr lang="en-US" sz="1000" dirty="0">
                <a:latin typeface="Arial MT"/>
                <a:cs typeface="Arial MT"/>
              </a:rPr>
              <a:t>vendors</a:t>
            </a:r>
            <a:r>
              <a:rPr lang="en-US" sz="1000" spc="-25" dirty="0">
                <a:latin typeface="Arial MT"/>
                <a:cs typeface="Arial MT"/>
              </a:rPr>
              <a:t> </a:t>
            </a:r>
            <a:r>
              <a:rPr lang="en-US" sz="1000" dirty="0">
                <a:latin typeface="Arial MT"/>
                <a:cs typeface="Arial MT"/>
              </a:rPr>
              <a:t>register</a:t>
            </a:r>
            <a:r>
              <a:rPr lang="en-US" sz="1000" spc="-35" dirty="0">
                <a:latin typeface="Arial MT"/>
                <a:cs typeface="Arial MT"/>
              </a:rPr>
              <a:t> </a:t>
            </a:r>
            <a:r>
              <a:rPr lang="en-US" sz="1000" dirty="0">
                <a:latin typeface="Arial MT"/>
                <a:cs typeface="Arial MT"/>
              </a:rPr>
              <a:t>and</a:t>
            </a:r>
            <a:r>
              <a:rPr lang="en-US" sz="1000" spc="-35" dirty="0">
                <a:latin typeface="Arial MT"/>
                <a:cs typeface="Arial MT"/>
              </a:rPr>
              <a:t> </a:t>
            </a:r>
            <a:r>
              <a:rPr lang="en-US" sz="1000" dirty="0">
                <a:latin typeface="Arial MT"/>
                <a:cs typeface="Arial MT"/>
              </a:rPr>
              <a:t>list</a:t>
            </a:r>
            <a:r>
              <a:rPr lang="en-US" sz="1000" spc="-25" dirty="0">
                <a:latin typeface="Arial MT"/>
                <a:cs typeface="Arial MT"/>
              </a:rPr>
              <a:t> </a:t>
            </a:r>
            <a:r>
              <a:rPr lang="en-US" sz="1000" spc="-10" dirty="0">
                <a:latin typeface="Arial MT"/>
                <a:cs typeface="Arial MT"/>
              </a:rPr>
              <a:t>machines.</a:t>
            </a:r>
            <a:r>
              <a:rPr lang="en-US" sz="900" spc="-10" dirty="0">
                <a:latin typeface="Arial MT"/>
                <a:cs typeface="Arial MT"/>
              </a:rPr>
              <a:t>•</a:t>
            </a:r>
            <a:endParaRPr lang="en-US" sz="900" dirty="0">
              <a:latin typeface="Arial MT"/>
              <a:cs typeface="Arial MT"/>
            </a:endParaRPr>
          </a:p>
          <a:p>
            <a:pPr marL="184785" indent="-172085">
              <a:lnSpc>
                <a:spcPts val="1190"/>
              </a:lnSpc>
              <a:buChar char="•"/>
              <a:tabLst>
                <a:tab pos="184785" algn="l"/>
              </a:tabLst>
            </a:pPr>
            <a:r>
              <a:rPr lang="en-US" sz="1000" dirty="0">
                <a:latin typeface="Arial MT"/>
                <a:cs typeface="Arial MT"/>
              </a:rPr>
              <a:t>Make</a:t>
            </a:r>
            <a:r>
              <a:rPr lang="en-US" sz="1000" spc="-20" dirty="0">
                <a:latin typeface="Arial MT"/>
                <a:cs typeface="Arial MT"/>
              </a:rPr>
              <a:t> </a:t>
            </a:r>
            <a:r>
              <a:rPr lang="en-US" sz="1000" dirty="0">
                <a:latin typeface="Arial MT"/>
                <a:cs typeface="Arial MT"/>
              </a:rPr>
              <a:t>it</a:t>
            </a:r>
            <a:r>
              <a:rPr lang="en-US" sz="1000" spc="10" dirty="0">
                <a:latin typeface="Arial MT"/>
                <a:cs typeface="Arial MT"/>
              </a:rPr>
              <a:t> </a:t>
            </a:r>
            <a:r>
              <a:rPr lang="en-US" sz="1000" spc="-10" dirty="0">
                <a:latin typeface="Arial MT"/>
                <a:cs typeface="Arial MT"/>
              </a:rPr>
              <a:t>mobile-friendly.</a:t>
            </a:r>
            <a:endParaRPr lang="en-US" sz="1000" dirty="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endParaRPr sz="1000" dirty="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29166" y="4839461"/>
            <a:ext cx="772795" cy="34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Feasibility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00" b="1" spc="-10" dirty="0">
                <a:latin typeface="Arial"/>
                <a:cs typeface="Arial"/>
              </a:rPr>
              <a:t>Technical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329166" y="5161026"/>
            <a:ext cx="24765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19431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Can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built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simple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tools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(HTML,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JS, </a:t>
            </a:r>
            <a:r>
              <a:rPr sz="900" spc="-10" dirty="0">
                <a:latin typeface="Arial MT"/>
                <a:cs typeface="Arial MT"/>
              </a:rPr>
              <a:t>PHP/Node.js).</a:t>
            </a:r>
            <a:endParaRPr sz="9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Database </a:t>
            </a:r>
            <a:r>
              <a:rPr sz="900" spc="-10" dirty="0">
                <a:latin typeface="Arial MT"/>
                <a:cs typeface="Arial MT"/>
              </a:rPr>
              <a:t>(MySQL/Firebase)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storing </a:t>
            </a:r>
            <a:r>
              <a:rPr sz="900" spc="-20" dirty="0">
                <a:latin typeface="Arial MT"/>
                <a:cs typeface="Arial MT"/>
              </a:rPr>
              <a:t>data.</a:t>
            </a:r>
            <a:endParaRPr sz="9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Google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Maps for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vendor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locations.</a:t>
            </a:r>
            <a:endParaRPr sz="9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Easy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expand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0" dirty="0">
                <a:latin typeface="Arial MT"/>
                <a:cs typeface="Arial MT"/>
              </a:rPr>
              <a:t> future.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29166" y="5846775"/>
            <a:ext cx="5232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Arial"/>
                <a:cs typeface="Arial"/>
              </a:rPr>
              <a:t>Financial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329166" y="5983935"/>
            <a:ext cx="250952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Low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cost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develop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maintain.</a:t>
            </a:r>
            <a:endParaRPr sz="9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Vendors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small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fee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list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products.</a:t>
            </a:r>
            <a:endParaRPr sz="900" dirty="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sz="900" dirty="0">
                <a:latin typeface="Arial MT"/>
                <a:cs typeface="Arial MT"/>
              </a:rPr>
              <a:t>Ads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partnerships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extra </a:t>
            </a:r>
            <a:r>
              <a:rPr sz="900" spc="-10" dirty="0">
                <a:latin typeface="Arial MT"/>
                <a:cs typeface="Arial MT"/>
              </a:rPr>
              <a:t>income.</a:t>
            </a:r>
            <a:endParaRPr sz="9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Farmers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save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money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reducing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labor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costs.</a:t>
            </a:r>
            <a:endParaRPr sz="900" dirty="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buChar char="•"/>
              <a:tabLst>
                <a:tab pos="184785" algn="l"/>
              </a:tabLst>
            </a:pPr>
            <a:r>
              <a:rPr sz="900" dirty="0">
                <a:latin typeface="Arial MT"/>
                <a:cs typeface="Arial MT"/>
              </a:rPr>
              <a:t>Possible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government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funding/subsidy.</a:t>
            </a:r>
            <a:endParaRPr sz="900" dirty="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45914" y="2152014"/>
            <a:ext cx="7519034" cy="2713355"/>
            <a:chOff x="4645914" y="2152014"/>
            <a:chExt cx="7519034" cy="2713355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42171" y="2431414"/>
              <a:ext cx="2922397" cy="240144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652264" y="2158364"/>
              <a:ext cx="4649470" cy="365760"/>
            </a:xfrm>
            <a:custGeom>
              <a:avLst/>
              <a:gdLst/>
              <a:ahLst/>
              <a:cxnLst/>
              <a:rect l="l" t="t" r="r" b="b"/>
              <a:pathLst>
                <a:path w="4649470" h="365760">
                  <a:moveTo>
                    <a:pt x="38307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3070" y="365760"/>
                  </a:lnTo>
                  <a:lnTo>
                    <a:pt x="383070" y="0"/>
                  </a:lnTo>
                  <a:close/>
                </a:path>
                <a:path w="4649470" h="365760">
                  <a:moveTo>
                    <a:pt x="4648962" y="0"/>
                  </a:moveTo>
                  <a:lnTo>
                    <a:pt x="2172716" y="0"/>
                  </a:lnTo>
                  <a:lnTo>
                    <a:pt x="383159" y="0"/>
                  </a:lnTo>
                  <a:lnTo>
                    <a:pt x="383159" y="365760"/>
                  </a:lnTo>
                  <a:lnTo>
                    <a:pt x="2172716" y="365760"/>
                  </a:lnTo>
                  <a:lnTo>
                    <a:pt x="4648962" y="365760"/>
                  </a:lnTo>
                  <a:lnTo>
                    <a:pt x="464896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52264" y="2524213"/>
              <a:ext cx="4649470" cy="460375"/>
            </a:xfrm>
            <a:custGeom>
              <a:avLst/>
              <a:gdLst/>
              <a:ahLst/>
              <a:cxnLst/>
              <a:rect l="l" t="t" r="r" b="b"/>
              <a:pathLst>
                <a:path w="4649470" h="460375">
                  <a:moveTo>
                    <a:pt x="383070" y="0"/>
                  </a:moveTo>
                  <a:lnTo>
                    <a:pt x="0" y="0"/>
                  </a:lnTo>
                  <a:lnTo>
                    <a:pt x="0" y="460286"/>
                  </a:lnTo>
                  <a:lnTo>
                    <a:pt x="383070" y="460286"/>
                  </a:lnTo>
                  <a:lnTo>
                    <a:pt x="383070" y="0"/>
                  </a:lnTo>
                  <a:close/>
                </a:path>
                <a:path w="4649470" h="460375">
                  <a:moveTo>
                    <a:pt x="4648962" y="0"/>
                  </a:moveTo>
                  <a:lnTo>
                    <a:pt x="2172716" y="0"/>
                  </a:lnTo>
                  <a:lnTo>
                    <a:pt x="383159" y="0"/>
                  </a:lnTo>
                  <a:lnTo>
                    <a:pt x="383159" y="460286"/>
                  </a:lnTo>
                  <a:lnTo>
                    <a:pt x="2172716" y="460286"/>
                  </a:lnTo>
                  <a:lnTo>
                    <a:pt x="4648962" y="460286"/>
                  </a:lnTo>
                  <a:lnTo>
                    <a:pt x="4648962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52264" y="2984499"/>
              <a:ext cx="4649470" cy="502920"/>
            </a:xfrm>
            <a:custGeom>
              <a:avLst/>
              <a:gdLst/>
              <a:ahLst/>
              <a:cxnLst/>
              <a:rect l="l" t="t" r="r" b="b"/>
              <a:pathLst>
                <a:path w="4649470" h="502920">
                  <a:moveTo>
                    <a:pt x="38307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383070" y="502920"/>
                  </a:lnTo>
                  <a:lnTo>
                    <a:pt x="383070" y="0"/>
                  </a:lnTo>
                  <a:close/>
                </a:path>
                <a:path w="4649470" h="502920">
                  <a:moveTo>
                    <a:pt x="4648962" y="0"/>
                  </a:moveTo>
                  <a:lnTo>
                    <a:pt x="2172716" y="0"/>
                  </a:lnTo>
                  <a:lnTo>
                    <a:pt x="383159" y="0"/>
                  </a:lnTo>
                  <a:lnTo>
                    <a:pt x="383159" y="502920"/>
                  </a:lnTo>
                  <a:lnTo>
                    <a:pt x="2172716" y="502920"/>
                  </a:lnTo>
                  <a:lnTo>
                    <a:pt x="4648962" y="502920"/>
                  </a:lnTo>
                  <a:lnTo>
                    <a:pt x="4648962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52264" y="3487419"/>
              <a:ext cx="4649470" cy="502920"/>
            </a:xfrm>
            <a:custGeom>
              <a:avLst/>
              <a:gdLst/>
              <a:ahLst/>
              <a:cxnLst/>
              <a:rect l="l" t="t" r="r" b="b"/>
              <a:pathLst>
                <a:path w="4649470" h="502920">
                  <a:moveTo>
                    <a:pt x="38307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383070" y="502920"/>
                  </a:lnTo>
                  <a:lnTo>
                    <a:pt x="383070" y="0"/>
                  </a:lnTo>
                  <a:close/>
                </a:path>
                <a:path w="4649470" h="502920">
                  <a:moveTo>
                    <a:pt x="4648962" y="0"/>
                  </a:moveTo>
                  <a:lnTo>
                    <a:pt x="2172716" y="0"/>
                  </a:lnTo>
                  <a:lnTo>
                    <a:pt x="383159" y="0"/>
                  </a:lnTo>
                  <a:lnTo>
                    <a:pt x="383159" y="502920"/>
                  </a:lnTo>
                  <a:lnTo>
                    <a:pt x="2172716" y="502920"/>
                  </a:lnTo>
                  <a:lnTo>
                    <a:pt x="4648962" y="502920"/>
                  </a:lnTo>
                  <a:lnTo>
                    <a:pt x="4648962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52264" y="3990352"/>
              <a:ext cx="4649470" cy="502920"/>
            </a:xfrm>
            <a:custGeom>
              <a:avLst/>
              <a:gdLst/>
              <a:ahLst/>
              <a:cxnLst/>
              <a:rect l="l" t="t" r="r" b="b"/>
              <a:pathLst>
                <a:path w="4649470" h="502920">
                  <a:moveTo>
                    <a:pt x="383070" y="0"/>
                  </a:moveTo>
                  <a:lnTo>
                    <a:pt x="0" y="0"/>
                  </a:lnTo>
                  <a:lnTo>
                    <a:pt x="0" y="502907"/>
                  </a:lnTo>
                  <a:lnTo>
                    <a:pt x="383070" y="502907"/>
                  </a:lnTo>
                  <a:lnTo>
                    <a:pt x="383070" y="0"/>
                  </a:lnTo>
                  <a:close/>
                </a:path>
                <a:path w="4649470" h="502920">
                  <a:moveTo>
                    <a:pt x="4648962" y="0"/>
                  </a:moveTo>
                  <a:lnTo>
                    <a:pt x="2172716" y="0"/>
                  </a:lnTo>
                  <a:lnTo>
                    <a:pt x="383159" y="0"/>
                  </a:lnTo>
                  <a:lnTo>
                    <a:pt x="383159" y="502907"/>
                  </a:lnTo>
                  <a:lnTo>
                    <a:pt x="2172716" y="502907"/>
                  </a:lnTo>
                  <a:lnTo>
                    <a:pt x="4648962" y="502907"/>
                  </a:lnTo>
                  <a:lnTo>
                    <a:pt x="4648962" y="0"/>
                  </a:lnTo>
                  <a:close/>
                </a:path>
              </a:pathLst>
            </a:custGeom>
            <a:solidFill>
              <a:srgbClr val="E9E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52264" y="4493259"/>
              <a:ext cx="4649470" cy="365760"/>
            </a:xfrm>
            <a:custGeom>
              <a:avLst/>
              <a:gdLst/>
              <a:ahLst/>
              <a:cxnLst/>
              <a:rect l="l" t="t" r="r" b="b"/>
              <a:pathLst>
                <a:path w="4649470" h="365760">
                  <a:moveTo>
                    <a:pt x="38307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83070" y="365760"/>
                  </a:lnTo>
                  <a:lnTo>
                    <a:pt x="383070" y="0"/>
                  </a:lnTo>
                  <a:close/>
                </a:path>
                <a:path w="4649470" h="365760">
                  <a:moveTo>
                    <a:pt x="4648962" y="0"/>
                  </a:moveTo>
                  <a:lnTo>
                    <a:pt x="2172716" y="0"/>
                  </a:lnTo>
                  <a:lnTo>
                    <a:pt x="2172716" y="365760"/>
                  </a:lnTo>
                  <a:lnTo>
                    <a:pt x="4648962" y="365760"/>
                  </a:lnTo>
                  <a:lnTo>
                    <a:pt x="4648962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35423" y="2152014"/>
              <a:ext cx="1790064" cy="2713355"/>
            </a:xfrm>
            <a:custGeom>
              <a:avLst/>
              <a:gdLst/>
              <a:ahLst/>
              <a:cxnLst/>
              <a:rect l="l" t="t" r="r" b="b"/>
              <a:pathLst>
                <a:path w="1790065" h="2713354">
                  <a:moveTo>
                    <a:pt x="0" y="0"/>
                  </a:moveTo>
                  <a:lnTo>
                    <a:pt x="0" y="2713355"/>
                  </a:lnTo>
                </a:path>
                <a:path w="1790065" h="2713354">
                  <a:moveTo>
                    <a:pt x="1789556" y="0"/>
                  </a:moveTo>
                  <a:lnTo>
                    <a:pt x="1789556" y="271335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45914" y="2524124"/>
              <a:ext cx="4662170" cy="0"/>
            </a:xfrm>
            <a:custGeom>
              <a:avLst/>
              <a:gdLst/>
              <a:ahLst/>
              <a:cxnLst/>
              <a:rect l="l" t="t" r="r" b="b"/>
              <a:pathLst>
                <a:path w="4662170">
                  <a:moveTo>
                    <a:pt x="0" y="0"/>
                  </a:moveTo>
                  <a:lnTo>
                    <a:pt x="466166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45914" y="2152014"/>
              <a:ext cx="4662170" cy="2713355"/>
            </a:xfrm>
            <a:custGeom>
              <a:avLst/>
              <a:gdLst/>
              <a:ahLst/>
              <a:cxnLst/>
              <a:rect l="l" t="t" r="r" b="b"/>
              <a:pathLst>
                <a:path w="4662170" h="2713354">
                  <a:moveTo>
                    <a:pt x="0" y="832485"/>
                  </a:moveTo>
                  <a:lnTo>
                    <a:pt x="4661662" y="832485"/>
                  </a:lnTo>
                </a:path>
                <a:path w="4662170" h="2713354">
                  <a:moveTo>
                    <a:pt x="0" y="1335405"/>
                  </a:moveTo>
                  <a:lnTo>
                    <a:pt x="4661662" y="1335405"/>
                  </a:lnTo>
                </a:path>
                <a:path w="4662170" h="2713354">
                  <a:moveTo>
                    <a:pt x="0" y="1838325"/>
                  </a:moveTo>
                  <a:lnTo>
                    <a:pt x="4661662" y="1838325"/>
                  </a:lnTo>
                </a:path>
                <a:path w="4662170" h="2713354">
                  <a:moveTo>
                    <a:pt x="0" y="2341245"/>
                  </a:moveTo>
                  <a:lnTo>
                    <a:pt x="4661662" y="2341245"/>
                  </a:lnTo>
                </a:path>
                <a:path w="4662170" h="2713354">
                  <a:moveTo>
                    <a:pt x="6350" y="0"/>
                  </a:moveTo>
                  <a:lnTo>
                    <a:pt x="6350" y="2713355"/>
                  </a:lnTo>
                </a:path>
                <a:path w="4662170" h="2713354">
                  <a:moveTo>
                    <a:pt x="4655312" y="0"/>
                  </a:moveTo>
                  <a:lnTo>
                    <a:pt x="4655312" y="2713355"/>
                  </a:lnTo>
                </a:path>
                <a:path w="4662170" h="2713354">
                  <a:moveTo>
                    <a:pt x="0" y="6350"/>
                  </a:moveTo>
                  <a:lnTo>
                    <a:pt x="4661662" y="6350"/>
                  </a:lnTo>
                </a:path>
                <a:path w="4662170" h="2713354">
                  <a:moveTo>
                    <a:pt x="0" y="2707005"/>
                  </a:moveTo>
                  <a:lnTo>
                    <a:pt x="4661662" y="270700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1" name="object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82439"/>
              </p:ext>
            </p:extLst>
          </p:nvPr>
        </p:nvGraphicFramePr>
        <p:xfrm>
          <a:off x="4712715" y="2206022"/>
          <a:ext cx="4476114" cy="2644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7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31750">
                        <a:lnSpc>
                          <a:spcPts val="994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994"/>
                        </a:lnSpc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Requirement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994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Proposed</a:t>
                      </a:r>
                      <a:r>
                        <a:rPr sz="9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Solution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906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IN" sz="1200" dirty="0"/>
                        <a:t>Easy access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251460" marR="5518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IN" sz="1200" dirty="0"/>
                        <a:t>Simple, mobile-friendly UI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Smart decision-making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    AI-based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906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IN" sz="1200" dirty="0"/>
                        <a:t>Vendor discovery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251460" marR="939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IN" sz="1200" dirty="0"/>
                        <a:t>Map-based nearby vendor search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906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>
                          <a:latin typeface="+mn-lt"/>
                          <a:cs typeface="Arial MT"/>
                        </a:rPr>
                        <a:t>Learning</a:t>
                      </a:r>
                      <a:r>
                        <a:rPr sz="1200" spc="-45" dirty="0">
                          <a:latin typeface="+mn-l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+mn-lt"/>
                          <a:cs typeface="Arial MT"/>
                        </a:rPr>
                        <a:t>Support</a:t>
                      </a:r>
                      <a:endParaRPr sz="1200" dirty="0">
                        <a:latin typeface="+mn-lt"/>
                        <a:cs typeface="Arial MT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251460" marR="1873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IN" sz="1200" dirty="0"/>
                        <a:t>Videos, manuals &amp; AI chatbot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5.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906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IN" sz="1200" dirty="0"/>
                        <a:t>Subsidy awareness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25146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IN" sz="1200" dirty="0"/>
                        <a:t>AI-based eligibility prediction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506</Words>
  <Application>Microsoft Office PowerPoint</Application>
  <PresentationFormat>Widescreen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MT</vt:lpstr>
      <vt:lpstr>Calibri</vt:lpstr>
      <vt:lpstr>Cambria</vt:lpstr>
      <vt:lpstr>Office Theme</vt:lpstr>
      <vt:lpstr>MIT SCHOOL OF COMPUTING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yash sonawane</cp:lastModifiedBy>
  <cp:revision>2</cp:revision>
  <dcterms:created xsi:type="dcterms:W3CDTF">2026-02-05T04:56:55Z</dcterms:created>
  <dcterms:modified xsi:type="dcterms:W3CDTF">2026-02-05T05:32:55Z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2026-02-05T00:00:00Z</vt:filetime>
  </property>
  <property fmtid="{D5CDD505-2E9C-101B-9397-08002B2CF9AE}" pid="5" name="Producer">
    <vt:lpwstr>Microsoft® PowerPoint® LTSC</vt:lpwstr>
  </property>
</Properties>
</file>